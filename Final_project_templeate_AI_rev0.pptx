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466" r:id="rId3"/>
    <p:sldId id="467" r:id="rId4"/>
    <p:sldId id="475" r:id="rId5"/>
    <p:sldId id="476" r:id="rId6"/>
    <p:sldId id="478" r:id="rId7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85220" autoAdjust="0"/>
  </p:normalViewPr>
  <p:slideViewPr>
    <p:cSldViewPr>
      <p:cViewPr>
        <p:scale>
          <a:sx n="100" d="100"/>
          <a:sy n="10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06" d="100"/>
          <a:sy n="106" d="100"/>
        </p:scale>
        <p:origin x="259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25A70-5908-4F26-95C5-87BC94421A41}" type="datetimeFigureOut">
              <a:rPr lang="ko-KR" altLang="en-US" smtClean="0"/>
              <a:t>2022-12-15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C53CC-49FF-4CD2-A4C1-1F15E1088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98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12/15/2022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33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3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19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4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916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5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499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6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695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3B6732A1-8A50-42D0-9FB5-A7CC4F887D83}" type="datetime1">
              <a:rPr lang="en-US" smtClean="0"/>
              <a:t>12/15/2022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>
            <a:lvl1pPr algn="l" eaLnBrk="1" latinLnBrk="0" hangingPunct="1">
              <a:defRPr/>
            </a:lvl1pPr>
          </a:lstStyle>
          <a:p>
            <a:fld id="{EA7C8D44-3667-46F6-9772-CC52308E2A7F}" type="slidenum">
              <a:rPr kumimoji="0" lang="en-US" altLang="ko-KR" smtClean="0"/>
              <a:pPr/>
              <a:t>‹#›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4B809B3-6A2C-46CF-98AB-C7B45372B065}" type="datetime1">
              <a:rPr lang="en-US" smtClean="0"/>
              <a:t>12/15/2022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 eaLnBrk="1" latinLnBrk="0" hangingPunct="1">
              <a:defRPr/>
            </a:lvl1pPr>
          </a:lstStyle>
          <a:p>
            <a:fld id="{EA7C8D44-3667-46F6-9772-CC52308E2A7F}" type="slidenum">
              <a:rPr kumimoji="0" lang="en-US" altLang="ko-KR" smtClean="0"/>
              <a:pPr/>
              <a:t>‹#›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C191117F-3CD7-4767-AEE5-49A060274EAA}" type="datetime1">
              <a:rPr lang="en-US" smtClean="0"/>
              <a:t>12/15/2022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7B8C5CE-9DF7-4BB4-863A-6E277DDC03D4}" type="datetime1">
              <a:rPr lang="en-US" smtClean="0"/>
              <a:t>12/15/2022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EE11402-9D83-40E7-9253-0548CE63EB94}" type="datetime1">
              <a:rPr lang="en-US" smtClean="0"/>
              <a:t>12/15/2022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0C8811-C7DA-4658-BB60-F635F9220CDF}" type="datetime1">
              <a:rPr lang="en-US" smtClean="0"/>
              <a:t>12/15/2022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EB38FCF-5E28-44CB-A212-D3E75CA77D8D}" type="datetime1">
              <a:rPr lang="en-US" smtClean="0"/>
              <a:t>12/15/2022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55FE7C6-0DE5-4400-A2DD-37AB2CB98797}" type="datetime1">
              <a:rPr lang="en-US" smtClean="0"/>
              <a:t>12/15/2022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312819A-A7E0-496A-9C6B-0FBBF375D97B}" type="datetime1">
              <a:rPr lang="en-US" smtClean="0"/>
              <a:t>12/15/2022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32F6112-2530-4960-AA07-04E672D1E722}" type="datetime1">
              <a:rPr lang="en-US" smtClean="0"/>
              <a:t>12/15/2022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96A6EFF-8172-426D-9AC7-B0DD95EEE533}" type="datetime1">
              <a:rPr lang="en-US" smtClean="0"/>
              <a:t>12/15/2022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470973"/>
            <a:ext cx="1063524" cy="304168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0259BA2E-082A-4ACD-AA34-4B617DF5D259}" type="datetime1">
              <a:rPr lang="en-US" smtClean="0"/>
              <a:t>12/15/2022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.blog.naver.com/fbfbf1/22242579244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Fall 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1828801"/>
            <a:ext cx="9601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rgbClr val="C00000"/>
                </a:solidFill>
              </a:rPr>
              <a:t>Final Project Template</a:t>
            </a:r>
          </a:p>
        </p:txBody>
      </p:sp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ko-KR" altLang="en-US" sz="2000" dirty="0"/>
              <a:t>이준형</a:t>
            </a:r>
            <a:br>
              <a:rPr lang="en-US" altLang="ko-KR" sz="2000" dirty="0"/>
            </a:br>
            <a:r>
              <a:rPr lang="en-US" altLang="ko-KR" sz="2000" dirty="0"/>
              <a:t>System Semiconductor Engineering</a:t>
            </a:r>
            <a:br>
              <a:rPr lang="en-US" altLang="ko-KR" sz="2000" dirty="0"/>
            </a:br>
            <a:r>
              <a:rPr lang="en-US" altLang="ko-KR" sz="2000" dirty="0"/>
              <a:t>University of </a:t>
            </a:r>
            <a:r>
              <a:rPr lang="en-US" altLang="ko-KR" sz="2000" dirty="0" err="1"/>
              <a:t>Sangmyung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Contents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2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graphicFrame>
        <p:nvGraphicFramePr>
          <p:cNvPr id="13396" name="표 13395">
            <a:extLst>
              <a:ext uri="{FF2B5EF4-FFF2-40B4-BE49-F238E27FC236}">
                <a16:creationId xmlns:a16="http://schemas.microsoft.com/office/drawing/2014/main" id="{C943B89D-B489-EA51-0B8B-2125D60F5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73766"/>
              </p:ext>
            </p:extLst>
          </p:nvPr>
        </p:nvGraphicFramePr>
        <p:xfrm>
          <a:off x="2109089" y="1600200"/>
          <a:ext cx="6172200" cy="37814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66919462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6285265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0227439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28137719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53923648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657254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3689327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21663665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885778555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학습횟수</a:t>
                      </a:r>
                      <a:endParaRPr lang="ko-KR" altLang="en-US" sz="1100" b="1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학습률</a:t>
                      </a:r>
                      <a:endParaRPr lang="ko-KR" altLang="en-US" sz="1100" b="1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은닉층</a:t>
                      </a:r>
                      <a:endParaRPr lang="ko-KR" altLang="en-US" sz="1100" b="1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가중치</a:t>
                      </a:r>
                      <a:endParaRPr lang="ko-KR" altLang="en-US" sz="1100" b="1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활성함수</a:t>
                      </a:r>
                      <a:endParaRPr lang="ko-KR" altLang="en-US" sz="1100" b="1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필터</a:t>
                      </a:r>
                      <a:endParaRPr lang="ko-KR" altLang="en-US" sz="1100" b="1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train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test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3806572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twoLay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0.47162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0.4374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4506455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0.4928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0.4541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10468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luck_relu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683749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100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0.73142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0.4842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455177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0.73996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0.4894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058827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threeLay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0.4522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0.443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01699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0.6672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0.5185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924899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139461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10966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four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0.1987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0.1976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638635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0.44899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0.4435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8314505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500000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0.62422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0.5135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210227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500000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0.63496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0.5217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1719944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500000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0.6805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0.5138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089045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500000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200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0.88248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0.5034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574977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five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500000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0.30792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0.3025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65925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cnn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10000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480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0.01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relu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0.65462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0.5869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5267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047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Network Structure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3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8F0367-F8E9-5AA1-DB4D-DDBF286F9A89}"/>
              </a:ext>
            </a:extLst>
          </p:cNvPr>
          <p:cNvSpPr/>
          <p:nvPr/>
        </p:nvSpPr>
        <p:spPr>
          <a:xfrm>
            <a:off x="5790134" y="3016611"/>
            <a:ext cx="701209" cy="18695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Affine</a:t>
            </a:r>
            <a:endParaRPr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C2652A-9AC7-EE0F-61A4-E38F30BF522A}"/>
              </a:ext>
            </a:extLst>
          </p:cNvPr>
          <p:cNvSpPr/>
          <p:nvPr/>
        </p:nvSpPr>
        <p:spPr>
          <a:xfrm>
            <a:off x="6613991" y="3016611"/>
            <a:ext cx="701209" cy="18695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Elu</a:t>
            </a:r>
            <a:endParaRPr lang="ko-KR" altLang="en-US" sz="1400" dirty="0"/>
          </a:p>
        </p:txBody>
      </p:sp>
      <p:sp>
        <p:nvSpPr>
          <p:cNvPr id="7" name="정육면체 6">
            <a:extLst>
              <a:ext uri="{FF2B5EF4-FFF2-40B4-BE49-F238E27FC236}">
                <a16:creationId xmlns:a16="http://schemas.microsoft.com/office/drawing/2014/main" id="{938619A2-3E7D-F0CC-F034-75517D9A6304}"/>
              </a:ext>
            </a:extLst>
          </p:cNvPr>
          <p:cNvSpPr/>
          <p:nvPr/>
        </p:nvSpPr>
        <p:spPr>
          <a:xfrm>
            <a:off x="215679" y="3154679"/>
            <a:ext cx="1145481" cy="1600193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정육면체 7">
            <a:extLst>
              <a:ext uri="{FF2B5EF4-FFF2-40B4-BE49-F238E27FC236}">
                <a16:creationId xmlns:a16="http://schemas.microsoft.com/office/drawing/2014/main" id="{D90D70CB-A953-D6C1-4A47-5D2F094A7450}"/>
              </a:ext>
            </a:extLst>
          </p:cNvPr>
          <p:cNvSpPr/>
          <p:nvPr/>
        </p:nvSpPr>
        <p:spPr>
          <a:xfrm>
            <a:off x="1769212" y="3423603"/>
            <a:ext cx="936378" cy="1128395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정육면체 8">
            <a:extLst>
              <a:ext uri="{FF2B5EF4-FFF2-40B4-BE49-F238E27FC236}">
                <a16:creationId xmlns:a16="http://schemas.microsoft.com/office/drawing/2014/main" id="{34789E9A-2E63-E1F9-0E8C-64A4996DB250}"/>
              </a:ext>
            </a:extLst>
          </p:cNvPr>
          <p:cNvSpPr/>
          <p:nvPr/>
        </p:nvSpPr>
        <p:spPr>
          <a:xfrm>
            <a:off x="3080523" y="3712115"/>
            <a:ext cx="500877" cy="617217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6D8632B-075C-886A-DE97-7FF713F4D707}"/>
              </a:ext>
            </a:extLst>
          </p:cNvPr>
          <p:cNvCxnSpPr>
            <a:cxnSpLocks/>
          </p:cNvCxnSpPr>
          <p:nvPr/>
        </p:nvCxnSpPr>
        <p:spPr>
          <a:xfrm flipV="1">
            <a:off x="1047490" y="4549140"/>
            <a:ext cx="713753" cy="2057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E93E007-31A0-0404-F36B-165B67FB7CB3}"/>
              </a:ext>
            </a:extLst>
          </p:cNvPr>
          <p:cNvCxnSpPr>
            <a:cxnSpLocks/>
          </p:cNvCxnSpPr>
          <p:nvPr/>
        </p:nvCxnSpPr>
        <p:spPr>
          <a:xfrm>
            <a:off x="1055636" y="3450590"/>
            <a:ext cx="713576" cy="207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28D1C61-C981-C6A0-7187-EAED8F9BEAAB}"/>
              </a:ext>
            </a:extLst>
          </p:cNvPr>
          <p:cNvCxnSpPr>
            <a:cxnSpLocks/>
          </p:cNvCxnSpPr>
          <p:nvPr/>
        </p:nvCxnSpPr>
        <p:spPr>
          <a:xfrm>
            <a:off x="1380243" y="3154679"/>
            <a:ext cx="596672" cy="2689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8EC4782-0473-93FD-894C-1CCA042F9C64}"/>
              </a:ext>
            </a:extLst>
          </p:cNvPr>
          <p:cNvCxnSpPr>
            <a:cxnSpLocks/>
          </p:cNvCxnSpPr>
          <p:nvPr/>
        </p:nvCxnSpPr>
        <p:spPr>
          <a:xfrm flipV="1">
            <a:off x="1361160" y="4398046"/>
            <a:ext cx="408052" cy="748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D89DFA3-E4C5-8CA8-621C-8E4BB72C1FC1}"/>
              </a:ext>
            </a:extLst>
          </p:cNvPr>
          <p:cNvCxnSpPr>
            <a:cxnSpLocks/>
          </p:cNvCxnSpPr>
          <p:nvPr/>
        </p:nvCxnSpPr>
        <p:spPr>
          <a:xfrm>
            <a:off x="2462563" y="3657600"/>
            <a:ext cx="607078" cy="1801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9DC40A0-1C47-5761-158D-8D23B9C14855}"/>
              </a:ext>
            </a:extLst>
          </p:cNvPr>
          <p:cNvCxnSpPr>
            <a:cxnSpLocks/>
          </p:cNvCxnSpPr>
          <p:nvPr/>
        </p:nvCxnSpPr>
        <p:spPr>
          <a:xfrm>
            <a:off x="2705590" y="3423603"/>
            <a:ext cx="491797" cy="2856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15F2C02-A8F7-3421-430A-86AE13EF7BDA}"/>
              </a:ext>
            </a:extLst>
          </p:cNvPr>
          <p:cNvCxnSpPr>
            <a:cxnSpLocks/>
          </p:cNvCxnSpPr>
          <p:nvPr/>
        </p:nvCxnSpPr>
        <p:spPr>
          <a:xfrm flipV="1">
            <a:off x="2466723" y="4329332"/>
            <a:ext cx="613800" cy="2198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2CD9DA8-3A57-9823-AFDD-2DA77AA2E237}"/>
              </a:ext>
            </a:extLst>
          </p:cNvPr>
          <p:cNvCxnSpPr>
            <a:cxnSpLocks/>
          </p:cNvCxnSpPr>
          <p:nvPr/>
        </p:nvCxnSpPr>
        <p:spPr>
          <a:xfrm flipV="1">
            <a:off x="2705590" y="4260676"/>
            <a:ext cx="364051" cy="550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2BC7B42-4162-2B12-E947-299A639F0566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6491343" y="3951369"/>
            <a:ext cx="1226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F3CA118-E1E3-5CEA-D805-984490302C0B}"/>
              </a:ext>
            </a:extLst>
          </p:cNvPr>
          <p:cNvSpPr/>
          <p:nvPr/>
        </p:nvSpPr>
        <p:spPr>
          <a:xfrm>
            <a:off x="7816077" y="3016611"/>
            <a:ext cx="701209" cy="18695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Affine</a:t>
            </a:r>
            <a:endParaRPr lang="ko-KR" altLang="en-US" sz="1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2962DF3-C0DE-DB40-0EA7-FCAC300676C5}"/>
              </a:ext>
            </a:extLst>
          </p:cNvPr>
          <p:cNvSpPr/>
          <p:nvPr/>
        </p:nvSpPr>
        <p:spPr>
          <a:xfrm>
            <a:off x="8671391" y="3016611"/>
            <a:ext cx="701209" cy="18695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Elu</a:t>
            </a:r>
            <a:endParaRPr lang="ko-KR" altLang="en-US" sz="1400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51B9F73-9622-66D7-E1F1-A20959675855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8517286" y="3951369"/>
            <a:ext cx="154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F9E7615-7852-05F2-4472-C8C16D51F351}"/>
              </a:ext>
            </a:extLst>
          </p:cNvPr>
          <p:cNvSpPr/>
          <p:nvPr/>
        </p:nvSpPr>
        <p:spPr>
          <a:xfrm>
            <a:off x="9829800" y="3016611"/>
            <a:ext cx="701209" cy="18695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Affine</a:t>
            </a:r>
            <a:endParaRPr lang="ko-KR" altLang="en-US" sz="14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A865702-82F1-0A68-7078-E375174E586E}"/>
              </a:ext>
            </a:extLst>
          </p:cNvPr>
          <p:cNvSpPr/>
          <p:nvPr/>
        </p:nvSpPr>
        <p:spPr>
          <a:xfrm>
            <a:off x="10668000" y="3016611"/>
            <a:ext cx="701209" cy="18695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Sofamax</a:t>
            </a:r>
            <a:endParaRPr lang="ko-KR" altLang="en-US" sz="1200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5E80247-FC4A-C650-AE6D-93599701C835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10531009" y="3951369"/>
            <a:ext cx="1369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7BC6E45-A23E-401C-8264-25401DD7E7B3}"/>
              </a:ext>
            </a:extLst>
          </p:cNvPr>
          <p:cNvSpPr/>
          <p:nvPr/>
        </p:nvSpPr>
        <p:spPr>
          <a:xfrm>
            <a:off x="4613490" y="3020017"/>
            <a:ext cx="701209" cy="18695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Elu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53C140C-BDCB-34AE-E477-E9E03E9FA685}"/>
              </a:ext>
            </a:extLst>
          </p:cNvPr>
          <p:cNvCxnSpPr>
            <a:cxnSpLocks/>
          </p:cNvCxnSpPr>
          <p:nvPr/>
        </p:nvCxnSpPr>
        <p:spPr>
          <a:xfrm>
            <a:off x="3588254" y="3946282"/>
            <a:ext cx="1962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891768C-9C88-3943-8D66-D411C19509C5}"/>
              </a:ext>
            </a:extLst>
          </p:cNvPr>
          <p:cNvCxnSpPr>
            <a:stCxn id="29" idx="3"/>
            <a:endCxn id="3" idx="1"/>
          </p:cNvCxnSpPr>
          <p:nvPr/>
        </p:nvCxnSpPr>
        <p:spPr>
          <a:xfrm flipV="1">
            <a:off x="5314699" y="3951369"/>
            <a:ext cx="475435" cy="3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069179F-9D91-2507-99F3-2E7C2B203AED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7315200" y="3951369"/>
            <a:ext cx="5008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1E5AA4B-B6D6-EF8A-9CA9-E5FFE0FC6F04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>
            <a:off x="9372600" y="3951369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D5FA4930-73F7-C2DB-4AD3-495AEB84A118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11369209" y="3951369"/>
            <a:ext cx="2893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04D0422-44EE-2EA5-E1E0-96DCCA4661C7}"/>
              </a:ext>
            </a:extLst>
          </p:cNvPr>
          <p:cNvSpPr txBox="1"/>
          <p:nvPr/>
        </p:nvSpPr>
        <p:spPr>
          <a:xfrm>
            <a:off x="485007" y="5217922"/>
            <a:ext cx="4780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Input</a:t>
            </a:r>
            <a:endParaRPr lang="ko-KR" alt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14B555-4D34-BEBA-F82D-21A64D2C8FCC}"/>
              </a:ext>
            </a:extLst>
          </p:cNvPr>
          <p:cNvSpPr txBox="1"/>
          <p:nvPr/>
        </p:nvSpPr>
        <p:spPr>
          <a:xfrm>
            <a:off x="11599592" y="3810088"/>
            <a:ext cx="5677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output</a:t>
            </a:r>
            <a:endParaRPr lang="ko-KR" alt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1549BF-9D88-97B7-1FD9-4A5D749ABE72}"/>
              </a:ext>
            </a:extLst>
          </p:cNvPr>
          <p:cNvSpPr txBox="1"/>
          <p:nvPr/>
        </p:nvSpPr>
        <p:spPr>
          <a:xfrm>
            <a:off x="1844858" y="5133283"/>
            <a:ext cx="6864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Conv +</a:t>
            </a:r>
          </a:p>
          <a:p>
            <a:r>
              <a:rPr lang="en-US" altLang="ko-KR" sz="1100" dirty="0" err="1"/>
              <a:t>MaxPool</a:t>
            </a:r>
            <a:endParaRPr lang="ko-KR" altLang="en-US" sz="11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CC0DFE-BAD7-A6DF-9856-71F840299B5D}"/>
              </a:ext>
            </a:extLst>
          </p:cNvPr>
          <p:cNvSpPr txBox="1"/>
          <p:nvPr/>
        </p:nvSpPr>
        <p:spPr>
          <a:xfrm>
            <a:off x="2913339" y="5113625"/>
            <a:ext cx="6864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Conv +</a:t>
            </a:r>
          </a:p>
          <a:p>
            <a:r>
              <a:rPr lang="en-US" altLang="ko-KR" sz="1100" dirty="0" err="1"/>
              <a:t>MaxPool</a:t>
            </a:r>
            <a:endParaRPr lang="ko-KR" altLang="en-US" sz="1100" dirty="0"/>
          </a:p>
        </p:txBody>
      </p:sp>
      <p:sp>
        <p:nvSpPr>
          <p:cNvPr id="39" name="정육면체 38">
            <a:extLst>
              <a:ext uri="{FF2B5EF4-FFF2-40B4-BE49-F238E27FC236}">
                <a16:creationId xmlns:a16="http://schemas.microsoft.com/office/drawing/2014/main" id="{FF38ECA8-5D97-C7EC-275C-549E84A92A75}"/>
              </a:ext>
            </a:extLst>
          </p:cNvPr>
          <p:cNvSpPr/>
          <p:nvPr/>
        </p:nvSpPr>
        <p:spPr>
          <a:xfrm>
            <a:off x="3777777" y="3709257"/>
            <a:ext cx="500877" cy="617217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2E4FFFEA-0A05-7218-242D-997C634DC7C3}"/>
              </a:ext>
            </a:extLst>
          </p:cNvPr>
          <p:cNvCxnSpPr>
            <a:cxnSpLocks/>
            <a:stCxn id="39" idx="5"/>
            <a:endCxn id="29" idx="1"/>
          </p:cNvCxnSpPr>
          <p:nvPr/>
        </p:nvCxnSpPr>
        <p:spPr>
          <a:xfrm flipV="1">
            <a:off x="4278654" y="3954775"/>
            <a:ext cx="334836" cy="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14D83BF-3144-A158-D938-636AFBE52203}"/>
              </a:ext>
            </a:extLst>
          </p:cNvPr>
          <p:cNvSpPr txBox="1"/>
          <p:nvPr/>
        </p:nvSpPr>
        <p:spPr>
          <a:xfrm>
            <a:off x="3766522" y="5198263"/>
            <a:ext cx="4956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Conv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8B7D28-9E90-99F3-4DEF-8B7476BF8BBC}"/>
              </a:ext>
            </a:extLst>
          </p:cNvPr>
          <p:cNvSpPr txBox="1"/>
          <p:nvPr/>
        </p:nvSpPr>
        <p:spPr>
          <a:xfrm>
            <a:off x="4685744" y="5204067"/>
            <a:ext cx="4379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Relu</a:t>
            </a:r>
            <a:endParaRPr lang="en-US" altLang="ko-KR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0C9A63-C8E1-A2FA-E208-44F9F32CA00D}"/>
              </a:ext>
            </a:extLst>
          </p:cNvPr>
          <p:cNvSpPr txBox="1"/>
          <p:nvPr/>
        </p:nvSpPr>
        <p:spPr>
          <a:xfrm>
            <a:off x="6033525" y="5212680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Hidden layer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668884-C1B0-1E9A-4514-F360C229F8FE}"/>
              </a:ext>
            </a:extLst>
          </p:cNvPr>
          <p:cNvSpPr txBox="1"/>
          <p:nvPr/>
        </p:nvSpPr>
        <p:spPr>
          <a:xfrm>
            <a:off x="8210086" y="5198263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Hidden layer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E830FF-66CF-2A6F-187C-DE078FEE5989}"/>
              </a:ext>
            </a:extLst>
          </p:cNvPr>
          <p:cNvSpPr txBox="1"/>
          <p:nvPr/>
        </p:nvSpPr>
        <p:spPr>
          <a:xfrm>
            <a:off x="10141686" y="5221853"/>
            <a:ext cx="9204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Output layer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2DCB1708-0441-1A5F-1CF8-FEF53F011C94}"/>
              </a:ext>
            </a:extLst>
          </p:cNvPr>
          <p:cNvSpPr txBox="1">
            <a:spLocks/>
          </p:cNvSpPr>
          <p:nvPr/>
        </p:nvSpPr>
        <p:spPr>
          <a:xfrm>
            <a:off x="762000" y="1371600"/>
            <a:ext cx="10972800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CIFAR-10</a:t>
            </a:r>
            <a:endParaRPr lang="ko-KR" altLang="en-US"/>
          </a:p>
          <a:p>
            <a:endParaRPr lang="en-US" altLang="ko-KR" dirty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016529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Training Method</a:t>
            </a: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CIFAR-10</a:t>
            </a:r>
            <a:endParaRPr lang="ko-KR" altLang="en-US" dirty="0"/>
          </a:p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4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4252109"/>
                  </p:ext>
                </p:extLst>
              </p:nvPr>
            </p:nvGraphicFramePr>
            <p:xfrm>
              <a:off x="3048000" y="2286000"/>
              <a:ext cx="5334000" cy="30979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67000">
                      <a:extLst>
                        <a:ext uri="{9D8B030D-6E8A-4147-A177-3AD203B41FA5}">
                          <a16:colId xmlns:a16="http://schemas.microsoft.com/office/drawing/2014/main" val="3792067866"/>
                        </a:ext>
                      </a:extLst>
                    </a:gridCol>
                    <a:gridCol w="2667000">
                      <a:extLst>
                        <a:ext uri="{9D8B030D-6E8A-4147-A177-3AD203B41FA5}">
                          <a16:colId xmlns:a16="http://schemas.microsoft.com/office/drawing/2014/main" val="2904925393"/>
                        </a:ext>
                      </a:extLst>
                    </a:gridCol>
                  </a:tblGrid>
                  <a:tr h="83390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dirty="0"/>
                            <a:t>Strategy</a:t>
                          </a:r>
                          <a:endParaRPr lang="ko-KR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Method</a:t>
                          </a:r>
                          <a:endParaRPr lang="ko-KR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3579159"/>
                      </a:ext>
                    </a:extLst>
                  </a:tr>
                  <a:tr h="25656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>
                              <a:solidFill>
                                <a:srgbClr val="FF0000"/>
                              </a:solidFill>
                            </a:rPr>
                            <a:t>Network</a:t>
                          </a:r>
                          <a:endParaRPr lang="ko-KR" alt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CNN</a:t>
                          </a:r>
                          <a:endParaRPr lang="ko-KR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1977982"/>
                      </a:ext>
                    </a:extLst>
                  </a:tr>
                  <a:tr h="25656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>
                              <a:solidFill>
                                <a:srgbClr val="FF0000"/>
                              </a:solidFill>
                            </a:rPr>
                            <a:t>Initial</a:t>
                          </a:r>
                          <a:r>
                            <a:rPr lang="en-US" altLang="ko-KR" sz="1600" baseline="0" dirty="0">
                              <a:solidFill>
                                <a:srgbClr val="FF0000"/>
                              </a:solidFill>
                            </a:rPr>
                            <a:t> Learning Rate</a:t>
                          </a:r>
                          <a:endParaRPr lang="ko-KR" alt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10000</a:t>
                          </a:r>
                          <a:endParaRPr lang="ko-KR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30322445"/>
                      </a:ext>
                    </a:extLst>
                  </a:tr>
                  <a:tr h="25656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>
                              <a:solidFill>
                                <a:srgbClr val="FF0000"/>
                              </a:solidFill>
                            </a:rPr>
                            <a:t>Activation</a:t>
                          </a:r>
                          <a:r>
                            <a:rPr lang="en-US" altLang="ko-KR" sz="1600" baseline="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US" altLang="ko-KR" sz="1600" baseline="0" dirty="0" err="1">
                              <a:solidFill>
                                <a:srgbClr val="FF0000"/>
                              </a:solidFill>
                            </a:rPr>
                            <a:t>Fuction</a:t>
                          </a:r>
                          <a:endParaRPr lang="ko-KR" alt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Elu</a:t>
                          </a:r>
                          <a:endParaRPr lang="ko-KR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60603322"/>
                      </a:ext>
                    </a:extLst>
                  </a:tr>
                  <a:tr h="25656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>
                              <a:solidFill>
                                <a:srgbClr val="FF0000"/>
                              </a:solidFill>
                            </a:rPr>
                            <a:t>Batch </a:t>
                          </a:r>
                          <a:r>
                            <a:rPr lang="en-US" altLang="ko-KR" sz="1600" baseline="0" dirty="0" err="1">
                              <a:solidFill>
                                <a:srgbClr val="FF0000"/>
                              </a:solidFill>
                            </a:rPr>
                            <a:t>Dize</a:t>
                          </a:r>
                          <a:endParaRPr lang="ko-KR" alt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100</a:t>
                          </a:r>
                          <a:endParaRPr lang="ko-KR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4003125"/>
                      </a:ext>
                    </a:extLst>
                  </a:tr>
                  <a:tr h="25656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600" b="0" i="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Weighted initial value</a:t>
                          </a:r>
                          <a:endParaRPr lang="ko-KR" alt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He(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ko-KR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ko-KR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r>
                            <a:rPr lang="en-US" altLang="ko-KR" sz="1600" dirty="0"/>
                            <a:t>) [n=</a:t>
                          </a:r>
                          <a:r>
                            <a:rPr lang="ko-KR" altLang="en-US" sz="1000" b="1" dirty="0" err="1"/>
                            <a:t>앞계층노드개수</a:t>
                          </a:r>
                          <a:r>
                            <a:rPr lang="en-US" altLang="ko-KR" sz="1000" dirty="0"/>
                            <a:t>]</a:t>
                          </a:r>
                          <a:endParaRPr lang="ko-KR" alt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2021770"/>
                      </a:ext>
                    </a:extLst>
                  </a:tr>
                  <a:tr h="25656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err="1">
                              <a:solidFill>
                                <a:srgbClr val="FF0000"/>
                              </a:solidFill>
                            </a:rPr>
                            <a:t>Hiden</a:t>
                          </a:r>
                          <a:r>
                            <a:rPr lang="en-US" altLang="ko-KR" sz="1600" dirty="0">
                              <a:solidFill>
                                <a:srgbClr val="FF0000"/>
                              </a:solidFill>
                            </a:rPr>
                            <a:t> layer</a:t>
                          </a:r>
                          <a:endParaRPr lang="ko-KR" alt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Three layer</a:t>
                          </a:r>
                          <a:endParaRPr lang="ko-KR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989583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4252109"/>
                  </p:ext>
                </p:extLst>
              </p:nvPr>
            </p:nvGraphicFramePr>
            <p:xfrm>
              <a:off x="3048000" y="2286000"/>
              <a:ext cx="5334000" cy="30979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67000">
                      <a:extLst>
                        <a:ext uri="{9D8B030D-6E8A-4147-A177-3AD203B41FA5}">
                          <a16:colId xmlns:a16="http://schemas.microsoft.com/office/drawing/2014/main" val="3792067866"/>
                        </a:ext>
                      </a:extLst>
                    </a:gridCol>
                    <a:gridCol w="2667000">
                      <a:extLst>
                        <a:ext uri="{9D8B030D-6E8A-4147-A177-3AD203B41FA5}">
                          <a16:colId xmlns:a16="http://schemas.microsoft.com/office/drawing/2014/main" val="2904925393"/>
                        </a:ext>
                      </a:extLst>
                    </a:gridCol>
                  </a:tblGrid>
                  <a:tr h="83390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dirty="0"/>
                            <a:t>Strategy</a:t>
                          </a:r>
                          <a:endParaRPr lang="ko-KR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Method</a:t>
                          </a:r>
                          <a:endParaRPr lang="ko-KR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357915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>
                              <a:solidFill>
                                <a:srgbClr val="FF0000"/>
                              </a:solidFill>
                            </a:rPr>
                            <a:t>Network</a:t>
                          </a:r>
                          <a:endParaRPr lang="ko-KR" alt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CNN</a:t>
                          </a:r>
                          <a:endParaRPr lang="ko-KR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197798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>
                              <a:solidFill>
                                <a:srgbClr val="FF0000"/>
                              </a:solidFill>
                            </a:rPr>
                            <a:t>Initial</a:t>
                          </a:r>
                          <a:r>
                            <a:rPr lang="en-US" altLang="ko-KR" sz="1600" baseline="0" dirty="0">
                              <a:solidFill>
                                <a:srgbClr val="FF0000"/>
                              </a:solidFill>
                            </a:rPr>
                            <a:t> Learning Rate</a:t>
                          </a:r>
                          <a:endParaRPr lang="ko-KR" alt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10000</a:t>
                          </a:r>
                          <a:endParaRPr lang="ko-KR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3032244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>
                              <a:solidFill>
                                <a:srgbClr val="FF0000"/>
                              </a:solidFill>
                            </a:rPr>
                            <a:t>Activation</a:t>
                          </a:r>
                          <a:r>
                            <a:rPr lang="en-US" altLang="ko-KR" sz="1600" baseline="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US" altLang="ko-KR" sz="1600" baseline="0" dirty="0" err="1">
                              <a:solidFill>
                                <a:srgbClr val="FF0000"/>
                              </a:solidFill>
                            </a:rPr>
                            <a:t>Fuction</a:t>
                          </a:r>
                          <a:endParaRPr lang="ko-KR" alt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Elu</a:t>
                          </a:r>
                          <a:endParaRPr lang="ko-KR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6060332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>
                              <a:solidFill>
                                <a:srgbClr val="FF0000"/>
                              </a:solidFill>
                            </a:rPr>
                            <a:t>Batch </a:t>
                          </a:r>
                          <a:r>
                            <a:rPr lang="en-US" altLang="ko-KR" sz="1600" baseline="0" dirty="0" err="1">
                              <a:solidFill>
                                <a:srgbClr val="FF0000"/>
                              </a:solidFill>
                            </a:rPr>
                            <a:t>Dize</a:t>
                          </a:r>
                          <a:endParaRPr lang="ko-KR" alt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100</a:t>
                          </a:r>
                          <a:endParaRPr lang="ko-KR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4003125"/>
                      </a:ext>
                    </a:extLst>
                  </a:tr>
                  <a:tr h="58769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kumimoji="0" lang="en-US" altLang="ko-KR" sz="1600" b="0" i="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Weighted initial value</a:t>
                          </a:r>
                          <a:endParaRPr lang="ko-KR" alt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686" t="-370103" r="-1144" b="-69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02177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err="1">
                              <a:solidFill>
                                <a:srgbClr val="FF0000"/>
                              </a:solidFill>
                            </a:rPr>
                            <a:t>Hiden</a:t>
                          </a:r>
                          <a:r>
                            <a:rPr lang="en-US" altLang="ko-KR" sz="1600" dirty="0">
                              <a:solidFill>
                                <a:srgbClr val="FF0000"/>
                              </a:solidFill>
                            </a:rPr>
                            <a:t> layer</a:t>
                          </a:r>
                          <a:endParaRPr lang="ko-KR" alt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Three layer</a:t>
                          </a:r>
                          <a:endParaRPr lang="ko-KR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989583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2077430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Accuracy Results</a:t>
            </a: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CIFAR-10 </a:t>
            </a:r>
            <a:r>
              <a:rPr lang="ko-KR" altLang="en-US" dirty="0"/>
              <a:t>정확도</a:t>
            </a:r>
          </a:p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5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172998"/>
              </p:ext>
            </p:extLst>
          </p:nvPr>
        </p:nvGraphicFramePr>
        <p:xfrm>
          <a:off x="3048000" y="2809411"/>
          <a:ext cx="4949805" cy="1635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935">
                  <a:extLst>
                    <a:ext uri="{9D8B030D-6E8A-4147-A177-3AD203B41FA5}">
                      <a16:colId xmlns:a16="http://schemas.microsoft.com/office/drawing/2014/main" val="3792067866"/>
                    </a:ext>
                  </a:extLst>
                </a:gridCol>
                <a:gridCol w="1649935">
                  <a:extLst>
                    <a:ext uri="{9D8B030D-6E8A-4147-A177-3AD203B41FA5}">
                      <a16:colId xmlns:a16="http://schemas.microsoft.com/office/drawing/2014/main" val="937120388"/>
                    </a:ext>
                  </a:extLst>
                </a:gridCol>
                <a:gridCol w="1649935">
                  <a:extLst>
                    <a:ext uri="{9D8B030D-6E8A-4147-A177-3AD203B41FA5}">
                      <a16:colId xmlns:a16="http://schemas.microsoft.com/office/drawing/2014/main" val="3510057753"/>
                    </a:ext>
                  </a:extLst>
                </a:gridCol>
              </a:tblGrid>
              <a:tr h="62974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Accuracy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Difference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579159"/>
                  </a:ext>
                </a:extLst>
              </a:tr>
              <a:tr h="2565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rgbClr val="FF0000"/>
                          </a:solidFill>
                        </a:rPr>
                        <a:t>Protjcet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66.22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14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1977982"/>
                  </a:ext>
                </a:extLst>
              </a:tr>
              <a:tr h="2565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rgbClr val="FF0000"/>
                          </a:solidFill>
                        </a:rPr>
                        <a:t>Two_layer_net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48.42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25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322445"/>
                  </a:ext>
                </a:extLst>
              </a:tr>
              <a:tr h="2565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rgbClr val="FF0000"/>
                          </a:solidFill>
                        </a:rPr>
                        <a:t>Three_layer_net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51.85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15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947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5398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Reference</a:t>
            </a: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  <a:hlinkClick r:id="rId3"/>
              </a:rPr>
              <a:t>https://m.blog.naver.com/fbfbf1/222425792443</a:t>
            </a:r>
            <a:endParaRPr lang="en-US" altLang="ko-KR" dirty="0">
              <a:ea typeface="굴림" panose="020B0600000101010101" pitchFamily="50" charset="-127"/>
            </a:endParaRPr>
          </a:p>
          <a:p>
            <a:r>
              <a:rPr lang="en-US" altLang="ko-KR" dirty="0">
                <a:ea typeface="굴림" panose="020B0600000101010101" pitchFamily="50" charset="-127"/>
              </a:rPr>
              <a:t>http://www.incodom.kr/%ED%99%9C%EC%84%B1%ED%99%94%ED%95%A8%EC%88%98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6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268805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3895</TotalTime>
  <Words>301</Words>
  <Application>Microsoft Office PowerPoint</Application>
  <PresentationFormat>와이드스크린</PresentationFormat>
  <Paragraphs>215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맑은 고딕</vt:lpstr>
      <vt:lpstr>Arial</vt:lpstr>
      <vt:lpstr>Bookman Old Style</vt:lpstr>
      <vt:lpstr>Calibri</vt:lpstr>
      <vt:lpstr>Cambria Math</vt:lpstr>
      <vt:lpstr>Gill Sans MT</vt:lpstr>
      <vt:lpstr>Wingdings</vt:lpstr>
      <vt:lpstr>Wingdings 3</vt:lpstr>
      <vt:lpstr>Origin</vt:lpstr>
      <vt:lpstr>이준형 System Semiconductor Engineering University of Sangmyung</vt:lpstr>
      <vt:lpstr>Contents</vt:lpstr>
      <vt:lpstr>Network Structure</vt:lpstr>
      <vt:lpstr>Training Method</vt:lpstr>
      <vt:lpstr>Accuracy Results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zhu;YongwooKim</dc:creator>
  <cp:lastModifiedBy>이 준형</cp:lastModifiedBy>
  <cp:revision>419</cp:revision>
  <dcterms:created xsi:type="dcterms:W3CDTF">2013-05-12T07:12:15Z</dcterms:created>
  <dcterms:modified xsi:type="dcterms:W3CDTF">2022-12-15T14:28:33Z</dcterms:modified>
</cp:coreProperties>
</file>